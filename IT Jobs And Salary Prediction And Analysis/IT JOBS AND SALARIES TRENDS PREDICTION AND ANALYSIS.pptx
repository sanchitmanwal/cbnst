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60" r:id="rId4"/>
  </p:sldMasterIdLst>
  <p:notesMasterIdLst>
    <p:notesMasterId r:id="rId20"/>
  </p:notesMasterIdLst>
  <p:handoutMasterIdLst>
    <p:handoutMasterId r:id="rId21"/>
  </p:handoutMasterIdLst>
  <p:sldIdLst>
    <p:sldId id="257" r:id="rId5"/>
    <p:sldId id="268" r:id="rId6"/>
    <p:sldId id="267" r:id="rId7"/>
    <p:sldId id="269" r:id="rId8"/>
    <p:sldId id="270" r:id="rId9"/>
    <p:sldId id="259" r:id="rId10"/>
    <p:sldId id="261" r:id="rId11"/>
    <p:sldId id="272" r:id="rId12"/>
    <p:sldId id="263" r:id="rId13"/>
    <p:sldId id="274" r:id="rId14"/>
    <p:sldId id="275" r:id="rId15"/>
    <p:sldId id="276" r:id="rId16"/>
    <p:sldId id="277" r:id="rId17"/>
    <p:sldId id="280" r:id="rId18"/>
    <p:sldId id="279" r:id="rId19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80" d="100"/>
          <a:sy n="80" d="100"/>
        </p:scale>
        <p:origin x="136" y="60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6/5/2025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6/5/2025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2290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C76E5-0595-D625-FBA5-673BEF59F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0202B6-A1D8-045A-21E0-E4E3665437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279608-1B1F-7379-1A4D-CF6AA71BCC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334F4-5E4D-208C-7A5F-37E0E71BD5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254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6/5/2025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6/5/2025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6/5/2025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6/5/2025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6/5/2025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6/5/2025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6/5/2025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6/5/2025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6/5/2025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6/5/2025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6/5/2025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6/5/2025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IT JOBS AND SALARIES TRENDS PREDICTION AND ANALYSIS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485900" y="3068960"/>
            <a:ext cx="8735325" cy="1752600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sz="3200" dirty="0"/>
              <a:t>BY:</a:t>
            </a:r>
          </a:p>
          <a:p>
            <a:pPr algn="ctr"/>
            <a:r>
              <a:rPr lang="en-US" sz="3200" dirty="0"/>
              <a:t>SANCHIT MANWAL</a:t>
            </a:r>
          </a:p>
          <a:p>
            <a:pPr algn="ctr"/>
            <a:r>
              <a:rPr lang="en-US" sz="3200" dirty="0"/>
              <a:t>&amp;</a:t>
            </a:r>
          </a:p>
          <a:p>
            <a:pPr algn="ctr"/>
            <a:r>
              <a:rPr lang="en-US" sz="3200" dirty="0"/>
              <a:t>BHUPAL SINGH DANU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193037E8-56CC-1401-B591-E53A1777E7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88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cxnSp>
        <p:nvCxnSpPr>
          <p:cNvPr id="8" name="AutoShape 3">
            <a:extLst>
              <a:ext uri="{FF2B5EF4-FFF2-40B4-BE49-F238E27FC236}">
                <a16:creationId xmlns:a16="http://schemas.microsoft.com/office/drawing/2014/main" id="{C7C64E73-352C-27B8-74E2-EF58CC4E4682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81000" y="1809750"/>
            <a:ext cx="7115175" cy="952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4006180" y="291596"/>
            <a:ext cx="10360501" cy="804669"/>
          </a:xfrm>
        </p:spPr>
        <p:txBody>
          <a:bodyPr/>
          <a:lstStyle/>
          <a:p>
            <a:r>
              <a:rPr lang="en-US" dirty="0"/>
              <a:t>TABLE OF CONTENTS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sz="2400" dirty="0"/>
              <a:t>Introduction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dirty="0"/>
              <a:t>Problem statement and objectives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dirty="0"/>
              <a:t>Methodology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dirty="0"/>
              <a:t>Tools and technologies used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dirty="0"/>
              <a:t>Data collection and preprocessing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dirty="0"/>
              <a:t>Arima Model implementation 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dirty="0"/>
              <a:t>Prophet model implementation 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dirty="0"/>
              <a:t>LSTM Model implementation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dirty="0"/>
              <a:t>Model Evaluation metrics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dirty="0"/>
              <a:t>Power BI </a:t>
            </a:r>
            <a:r>
              <a:rPr lang="en-IN" sz="2400" dirty="0" err="1"/>
              <a:t>Visulaization</a:t>
            </a:r>
            <a:r>
              <a:rPr lang="en-IN" sz="2400" dirty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dirty="0"/>
              <a:t>Future Scopes</a:t>
            </a:r>
          </a:p>
          <a:p>
            <a:pPr marL="514350" indent="-514350">
              <a:buFont typeface="+mj-lt"/>
              <a:buAutoNum type="arabicPeriod"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514350" indent="-514350">
              <a:buFont typeface="+mj-lt"/>
              <a:buAutoNum type="arabicPeriod"/>
            </a:pPr>
            <a:endParaRPr lang="en-IN" sz="2400" dirty="0"/>
          </a:p>
          <a:p>
            <a:pPr marL="514350" indent="-514350">
              <a:buFont typeface="+mj-lt"/>
              <a:buAutoNum type="arabicPeriod"/>
            </a:pPr>
            <a:endParaRPr lang="en-IN" sz="2400" dirty="0"/>
          </a:p>
          <a:p>
            <a:pPr marL="514350" indent="-514350">
              <a:buFont typeface="+mj-lt"/>
              <a:buAutoNum type="arabicPeriod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/>
              <a:t>INTRODUCTION</a:t>
            </a:r>
            <a:r>
              <a:rPr lang="en-US" sz="4800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14299-A563-BE8B-2698-DB8294EFB8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This project, titled </a:t>
            </a:r>
            <a:r>
              <a:rPr lang="en-US" sz="2000" b="1" dirty="0"/>
              <a:t>"IT Jobs and Salary Prediction and Analysis,"</a:t>
            </a:r>
            <a:r>
              <a:rPr lang="en-US" sz="2000" dirty="0"/>
              <a:t> focuses on using modern tools and technologies to collect, analyze, and forecast job market trends.</a:t>
            </a:r>
          </a:p>
          <a:p>
            <a:pPr marL="0" indent="0">
              <a:buNone/>
            </a:pPr>
            <a:r>
              <a:rPr lang="en-IN" sz="2000" dirty="0"/>
              <a:t>The tech stack combines:</a:t>
            </a:r>
          </a:p>
          <a:p>
            <a:r>
              <a:rPr lang="en-US" sz="2000" b="1" dirty="0"/>
              <a:t>Web scraping tools</a:t>
            </a:r>
            <a:r>
              <a:rPr lang="en-US" sz="2000" dirty="0"/>
              <a:t> to collect real-time job data</a:t>
            </a:r>
          </a:p>
          <a:p>
            <a:r>
              <a:rPr lang="en-US" sz="2000" b="1" dirty="0"/>
              <a:t>Python libraries</a:t>
            </a:r>
            <a:r>
              <a:rPr lang="en-US" sz="2000" dirty="0"/>
              <a:t> for data processing and modeling</a:t>
            </a:r>
          </a:p>
          <a:p>
            <a:r>
              <a:rPr lang="en-US" sz="2000" b="1" dirty="0"/>
              <a:t>Forecasting models</a:t>
            </a:r>
            <a:r>
              <a:rPr lang="en-US" sz="2000" dirty="0"/>
              <a:t> like ARIMA, Prophet, and LSTM</a:t>
            </a:r>
          </a:p>
          <a:p>
            <a:r>
              <a:rPr lang="en-US" sz="2000" b="1" dirty="0"/>
              <a:t>Power BI</a:t>
            </a:r>
            <a:r>
              <a:rPr lang="en-US" sz="2000" dirty="0"/>
              <a:t> for creating interactive dashboards</a:t>
            </a:r>
          </a:p>
          <a:p>
            <a:pPr marL="0" indent="0">
              <a:buNone/>
            </a:pPr>
            <a:r>
              <a:rPr lang="en-US" sz="2000" dirty="0"/>
              <a:t>The goal is to assist </a:t>
            </a:r>
            <a:r>
              <a:rPr lang="en-US" sz="2000" b="1" dirty="0"/>
              <a:t>job seekers, recruiters, and analysts</a:t>
            </a:r>
            <a:r>
              <a:rPr lang="en-US" sz="2000" dirty="0"/>
              <a:t> by providing </a:t>
            </a:r>
            <a:r>
              <a:rPr lang="en-US" sz="2000" b="1" dirty="0"/>
              <a:t>data-driven insights</a:t>
            </a:r>
            <a:r>
              <a:rPr lang="en-US" sz="2000" dirty="0"/>
              <a:t> into high-demand roles, salaries, and skills.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484811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PROBLEM STATEMENT &amp; OBJECTIVES</a:t>
            </a:r>
            <a:endParaRPr lang="en-US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4587497" cy="4465320"/>
          </a:xfrm>
        </p:spPr>
        <p:txBody>
          <a:bodyPr/>
          <a:lstStyle/>
          <a:p>
            <a:r>
              <a:rPr lang="en-IN" sz="2000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Problem Statement</a:t>
            </a:r>
          </a:p>
          <a:p>
            <a:pPr marL="0" indent="0">
              <a:buNone/>
            </a:pPr>
            <a:r>
              <a:rPr lang="en-US" sz="1800" dirty="0"/>
              <a:t>The IT job market is dynamic and rapidly evolving.  Job seekers and recruiters often lack real-time insights into:</a:t>
            </a:r>
          </a:p>
          <a:p>
            <a:r>
              <a:rPr lang="en-IN" sz="1800" dirty="0"/>
              <a:t>Salary Trends</a:t>
            </a:r>
          </a:p>
          <a:p>
            <a:r>
              <a:rPr lang="en-IN" sz="1800" dirty="0"/>
              <a:t>In-demand Skills</a:t>
            </a:r>
          </a:p>
          <a:p>
            <a:r>
              <a:rPr lang="en-IN" sz="1800" dirty="0"/>
              <a:t>Role Specific demand across Locations</a:t>
            </a:r>
          </a:p>
          <a:p>
            <a:pPr marL="0" indent="0">
              <a:buNone/>
            </a:pPr>
            <a:r>
              <a:rPr lang="en-IN" sz="1800" dirty="0"/>
              <a:t>   There is need for a predictive system to analyse and forecast these trends accurately .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C399BCF-7D45-86D9-C153-A3860BC42439}"/>
              </a:ext>
            </a:extLst>
          </p:cNvPr>
          <p:cNvSpPr txBox="1">
            <a:spLocks/>
          </p:cNvSpPr>
          <p:nvPr/>
        </p:nvSpPr>
        <p:spPr>
          <a:xfrm>
            <a:off x="6238428" y="1706880"/>
            <a:ext cx="4587497" cy="446532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>
            <a:lvl1pPr marL="304747" indent="-304747" algn="l" defTabSz="1218987" rtl="0" eaLnBrk="1" latinLnBrk="0" hangingPunct="1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Project Objectives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latin typeface="Arial" panose="020B0604020202020204" pitchFamily="34" charset="0"/>
              </a:rPr>
              <a:t>Collect and analyze job listings from popular portals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latin typeface="Arial" panose="020B0604020202020204" pitchFamily="34" charset="0"/>
              </a:rPr>
              <a:t>Predict salary trends using time series and ML models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latin typeface="Arial" panose="020B0604020202020204" pitchFamily="34" charset="0"/>
              </a:rPr>
              <a:t>Identify in-demand roles, skills, and job locations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latin typeface="Arial" panose="020B0604020202020204" pitchFamily="34" charset="0"/>
              </a:rPr>
              <a:t>Visualize insights through an interactive dashboard</a:t>
            </a:r>
          </a:p>
        </p:txBody>
      </p:sp>
    </p:spTree>
    <p:extLst>
      <p:ext uri="{BB962C8B-B14F-4D97-AF65-F5344CB8AC3E}">
        <p14:creationId xmlns:p14="http://schemas.microsoft.com/office/powerpoint/2010/main" val="2341911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42800E9C-A94A-5E1D-8507-8AED5748C83E}"/>
              </a:ext>
            </a:extLst>
          </p:cNvPr>
          <p:cNvSpPr txBox="1"/>
          <p:nvPr/>
        </p:nvSpPr>
        <p:spPr>
          <a:xfrm>
            <a:off x="4366220" y="352102"/>
            <a:ext cx="62646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METHODOLOGY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34F059-7F10-D836-2100-8EEE47B780C6}"/>
              </a:ext>
            </a:extLst>
          </p:cNvPr>
          <p:cNvSpPr txBox="1"/>
          <p:nvPr/>
        </p:nvSpPr>
        <p:spPr>
          <a:xfrm>
            <a:off x="1125860" y="1412776"/>
            <a:ext cx="90010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PROJECT WORKFLOW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chemeClr val="bg2">
                    <a:lumMod val="60000"/>
                    <a:lumOff val="40000"/>
                  </a:schemeClr>
                </a:solidFill>
              </a:rPr>
              <a:t>Data Collection </a:t>
            </a:r>
          </a:p>
          <a:p>
            <a:pPr marL="1066693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Web scraping job listings using Selenium + </a:t>
            </a:r>
            <a:r>
              <a:rPr lang="en-US" sz="2000" dirty="0" err="1"/>
              <a:t>BeautifulSoup</a:t>
            </a:r>
            <a:endParaRPr lang="en-US" sz="2000" dirty="0"/>
          </a:p>
          <a:p>
            <a:pPr marL="1066693" lvl="1" indent="-457200">
              <a:buFont typeface="Arial" panose="020B0604020202020204" pitchFamily="34" charset="0"/>
              <a:buChar char="•"/>
            </a:pPr>
            <a:r>
              <a:rPr lang="fr-FR" sz="2000" dirty="0"/>
              <a:t>Sources: Naukri.com, </a:t>
            </a:r>
            <a:r>
              <a:rPr lang="fr-FR" sz="2000" dirty="0" err="1"/>
              <a:t>Kaggle</a:t>
            </a:r>
            <a:r>
              <a:rPr lang="fr-FR" sz="2000" dirty="0"/>
              <a:t>, etc.</a:t>
            </a:r>
            <a:endParaRPr lang="en-IN" sz="2000" dirty="0"/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chemeClr val="bg2">
                    <a:lumMod val="60000"/>
                    <a:lumOff val="40000"/>
                  </a:schemeClr>
                </a:solidFill>
              </a:rPr>
              <a:t>Data Preprocessing</a:t>
            </a:r>
          </a:p>
          <a:p>
            <a:pPr marL="952393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Cleaning, filtering, encoding using Pandas, NumPy</a:t>
            </a:r>
          </a:p>
          <a:p>
            <a:pPr marL="952393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Feature selection &amp; transformation</a:t>
            </a:r>
            <a:endParaRPr lang="fr-FR" sz="2000" dirty="0"/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Model Building</a:t>
            </a:r>
          </a:p>
          <a:p>
            <a:pPr marL="952394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Forecasting using ARIMA, Prophet, and LSTM models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Evaluation</a:t>
            </a:r>
          </a:p>
          <a:p>
            <a:pPr marL="952393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Performance comparison using error metrics (MAPE, SMAPE and MASE)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bg2">
                    <a:lumMod val="60000"/>
                    <a:lumOff val="40000"/>
                  </a:schemeClr>
                </a:solidFill>
              </a:rPr>
              <a:t>Visualization</a:t>
            </a:r>
          </a:p>
          <a:p>
            <a:pPr marL="952393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Interactive dashboards in Power BI</a:t>
            </a:r>
          </a:p>
          <a:p>
            <a:pPr marL="952393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Graphs, filters, trends for easy insight delivery</a:t>
            </a:r>
          </a:p>
        </p:txBody>
      </p:sp>
    </p:spTree>
    <p:extLst>
      <p:ext uri="{BB962C8B-B14F-4D97-AF65-F5344CB8AC3E}">
        <p14:creationId xmlns:p14="http://schemas.microsoft.com/office/powerpoint/2010/main" val="4123189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3">
            <a:extLst>
              <a:ext uri="{FF2B5EF4-FFF2-40B4-BE49-F238E27FC236}">
                <a16:creationId xmlns:a16="http://schemas.microsoft.com/office/drawing/2014/main" id="{6CCE77CE-7824-2950-A161-85C9A3550C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2123" y="908720"/>
            <a:ext cx="5794617" cy="58052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476D99F-887B-5738-B0A1-7F43323A5436}"/>
              </a:ext>
            </a:extLst>
          </p:cNvPr>
          <p:cNvSpPr txBox="1"/>
          <p:nvPr/>
        </p:nvSpPr>
        <p:spPr>
          <a:xfrm>
            <a:off x="3623524" y="260648"/>
            <a:ext cx="54232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Step-by-Step Flow of Project Methodology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264977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TOOLS &amp; TECHNOLOGIES USED</a:t>
            </a:r>
            <a:endParaRPr 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BEB8DA-7835-D7CB-EB35-BA59834AB6AB}"/>
              </a:ext>
            </a:extLst>
          </p:cNvPr>
          <p:cNvSpPr txBox="1"/>
          <p:nvPr/>
        </p:nvSpPr>
        <p:spPr>
          <a:xfrm>
            <a:off x="1557908" y="1916832"/>
            <a:ext cx="4464495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Languages &amp; Libraries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Python</a:t>
            </a:r>
            <a:r>
              <a:rPr lang="en-US" altLang="en-US" sz="16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:</a:t>
            </a:r>
            <a:r>
              <a:rPr lang="en-US" altLang="en-US" sz="1600" dirty="0">
                <a:latin typeface="Arial" panose="020B0604020202020204" pitchFamily="34" charset="0"/>
              </a:rPr>
              <a:t> Core language for scraping, processing, modeling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Pandas, NumPy</a:t>
            </a:r>
            <a:r>
              <a:rPr lang="en-US" altLang="en-US" sz="1600" dirty="0">
                <a:latin typeface="Arial" panose="020B0604020202020204" pitchFamily="34" charset="0"/>
              </a:rPr>
              <a:t>: Data manipulation and analysis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Matplotlib, Seaborn</a:t>
            </a:r>
            <a:r>
              <a:rPr lang="en-US" altLang="en-US" sz="1600" dirty="0">
                <a:latin typeface="Arial" panose="020B0604020202020204" pitchFamily="34" charset="0"/>
              </a:rPr>
              <a:t>: Visualization for EDA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9EC676-9E27-7ECC-F964-6929763840DE}"/>
              </a:ext>
            </a:extLst>
          </p:cNvPr>
          <p:cNvSpPr txBox="1"/>
          <p:nvPr/>
        </p:nvSpPr>
        <p:spPr>
          <a:xfrm>
            <a:off x="6138938" y="1916832"/>
            <a:ext cx="4464495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Web Scraping Tools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Selenium</a:t>
            </a:r>
            <a:r>
              <a:rPr lang="en-US" altLang="en-US" sz="1600" dirty="0">
                <a:latin typeface="Arial" panose="020B0604020202020204" pitchFamily="34" charset="0"/>
              </a:rPr>
              <a:t>: Dynamic content scraping (scrolling, clicking)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dirty="0" err="1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BeautifulSoup</a:t>
            </a:r>
            <a:r>
              <a:rPr lang="en-US" altLang="en-US" sz="16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:</a:t>
            </a:r>
            <a:r>
              <a:rPr lang="en-US" altLang="en-US" sz="1600" dirty="0">
                <a:latin typeface="Arial" panose="020B0604020202020204" pitchFamily="34" charset="0"/>
              </a:rPr>
              <a:t> Parsing and extracting HTML elements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D8F22F-B581-B892-4134-D92C675CD3E2}"/>
              </a:ext>
            </a:extLst>
          </p:cNvPr>
          <p:cNvSpPr txBox="1"/>
          <p:nvPr/>
        </p:nvSpPr>
        <p:spPr>
          <a:xfrm>
            <a:off x="1557907" y="4293096"/>
            <a:ext cx="446449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Forecasting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1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ARIMA:</a:t>
            </a:r>
            <a:r>
              <a:rPr lang="en-US" altLang="en-US" sz="1600" b="1" dirty="0">
                <a:latin typeface="Arial" panose="020B0604020202020204" pitchFamily="34" charset="0"/>
              </a:rPr>
              <a:t> </a:t>
            </a:r>
            <a:r>
              <a:rPr lang="en-US" altLang="en-US" sz="1600" dirty="0">
                <a:latin typeface="Arial" panose="020B0604020202020204" pitchFamily="34" charset="0"/>
              </a:rPr>
              <a:t>Linear time series forecasting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1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Prophet:</a:t>
            </a:r>
            <a:r>
              <a:rPr lang="en-US" altLang="en-US" sz="1600" b="1" dirty="0">
                <a:latin typeface="Arial" panose="020B0604020202020204" pitchFamily="34" charset="0"/>
              </a:rPr>
              <a:t> </a:t>
            </a:r>
            <a:r>
              <a:rPr lang="en-US" altLang="en-US" sz="1600" dirty="0">
                <a:latin typeface="Arial" panose="020B0604020202020204" pitchFamily="34" charset="0"/>
              </a:rPr>
              <a:t>Trend, seasonality, changepoint 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1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LSTM (</a:t>
            </a:r>
            <a:r>
              <a:rPr lang="en-US" altLang="en-US" sz="1600" b="1" dirty="0" err="1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Keras</a:t>
            </a:r>
            <a:r>
              <a:rPr lang="en-US" altLang="en-US" sz="1600" b="1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/TensorFlow): </a:t>
            </a:r>
            <a:r>
              <a:rPr lang="en-US" altLang="en-US" sz="1600" dirty="0">
                <a:latin typeface="Arial" panose="020B0604020202020204" pitchFamily="34" charset="0"/>
              </a:rPr>
              <a:t>Deep learning for sequence modeling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1007AF-6D63-1C1C-387F-A3305C241456}"/>
              </a:ext>
            </a:extLst>
          </p:cNvPr>
          <p:cNvSpPr txBox="1"/>
          <p:nvPr/>
        </p:nvSpPr>
        <p:spPr>
          <a:xfrm>
            <a:off x="6166423" y="4293096"/>
            <a:ext cx="446449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Visualization Tool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1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Power BI: </a:t>
            </a:r>
            <a:r>
              <a:rPr lang="en-US" altLang="en-US" sz="1600" dirty="0">
                <a:latin typeface="Arial" panose="020B0604020202020204" pitchFamily="34" charset="0"/>
              </a:rPr>
              <a:t>Interactive dashboards for job &amp; salary insights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098DC58-0FF2-3CBE-749C-3113F57DB38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923" y="2258291"/>
            <a:ext cx="1502296" cy="1502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039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E5455-825C-B209-7A5A-54A8073D9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8B0096B-8781-72FB-17CC-31CE9E88C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</a:t>
            </a:r>
            <a:r>
              <a:rPr lang="en-IN" b="1" dirty="0"/>
              <a:t>ATA COLLECTION AND PREPROCESSING </a:t>
            </a:r>
            <a:endParaRPr 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9161CC-D61E-56BD-D7DC-C41BEBB64E84}"/>
              </a:ext>
            </a:extLst>
          </p:cNvPr>
          <p:cNvSpPr txBox="1"/>
          <p:nvPr/>
        </p:nvSpPr>
        <p:spPr>
          <a:xfrm>
            <a:off x="1557908" y="1916832"/>
            <a:ext cx="446449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srgbClr val="192A52">
                    <a:lumMod val="40000"/>
                    <a:lumOff val="6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Sources</a:t>
            </a:r>
          </a:p>
          <a:p>
            <a:pPr marL="285750" marR="0" lvl="0" indent="-28575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Primary: </a:t>
            </a:r>
            <a:r>
              <a:rPr kumimoji="0" lang="en-US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Naukri.com</a:t>
            </a:r>
          </a:p>
          <a:p>
            <a:pPr marL="285750" marR="0" lvl="0" indent="-28575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Additional :</a:t>
            </a:r>
            <a:r>
              <a:rPr lang="en-US" altLang="en-US" sz="1600" b="1" dirty="0">
                <a:solidFill>
                  <a:prstClr val="white">
                    <a:lumMod val="65000"/>
                  </a:prstClr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Kaggle</a:t>
            </a:r>
            <a:endParaRPr kumimoji="0" lang="en-IN" sz="28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13F2B0-54E2-EB22-0985-65C1D8990E44}"/>
              </a:ext>
            </a:extLst>
          </p:cNvPr>
          <p:cNvSpPr txBox="1"/>
          <p:nvPr/>
        </p:nvSpPr>
        <p:spPr>
          <a:xfrm>
            <a:off x="5911150" y="1916832"/>
            <a:ext cx="4464495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srgbClr val="192A52">
                    <a:lumMod val="40000"/>
                    <a:lumOff val="6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Tools &amp; Techniques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dirty="0">
                <a:latin typeface="Arial" panose="020B0604020202020204" pitchFamily="34" charset="0"/>
              </a:rPr>
              <a:t>Selenium</a:t>
            </a:r>
            <a:r>
              <a:rPr lang="en-US" altLang="en-US" sz="1600" dirty="0">
                <a:latin typeface="Arial" panose="020B0604020202020204" pitchFamily="34" charset="0"/>
              </a:rPr>
              <a:t>: Automated job search, dynamic content scraping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dirty="0" err="1">
                <a:latin typeface="Arial" panose="020B0604020202020204" pitchFamily="34" charset="0"/>
              </a:rPr>
              <a:t>BeautifulSoup</a:t>
            </a:r>
            <a:r>
              <a:rPr lang="en-US" altLang="en-US" sz="1600" dirty="0">
                <a:latin typeface="Arial" panose="020B0604020202020204" pitchFamily="34" charset="0"/>
              </a:rPr>
              <a:t>: Parsed HTML to extract job details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dirty="0">
                <a:latin typeface="Arial" panose="020B0604020202020204" pitchFamily="34" charset="0"/>
              </a:rPr>
              <a:t>Pandas &amp; NumPy</a:t>
            </a:r>
            <a:r>
              <a:rPr lang="en-US" altLang="en-US" sz="1600" dirty="0">
                <a:latin typeface="Arial" panose="020B0604020202020204" pitchFamily="34" charset="0"/>
              </a:rPr>
              <a:t>: Cleaned and transformed data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7291E8-41DF-0D7A-7CB3-29AFD29F3A26}"/>
              </a:ext>
            </a:extLst>
          </p:cNvPr>
          <p:cNvSpPr txBox="1"/>
          <p:nvPr/>
        </p:nvSpPr>
        <p:spPr>
          <a:xfrm>
            <a:off x="1557907" y="4293096"/>
            <a:ext cx="446449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srgbClr val="192A52">
                    <a:lumMod val="40000"/>
                    <a:lumOff val="6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Collected Fields</a:t>
            </a:r>
          </a:p>
          <a:p>
            <a:pPr marL="285750" marR="0" lvl="0" indent="-28575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Job Title, Company, Location , Salary, Experience, Skills, Date Posted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3024F3B-205A-8ABF-99CE-DBDA89FC8928}"/>
              </a:ext>
            </a:extLst>
          </p:cNvPr>
          <p:cNvSpPr txBox="1"/>
          <p:nvPr/>
        </p:nvSpPr>
        <p:spPr>
          <a:xfrm>
            <a:off x="5911150" y="4329933"/>
            <a:ext cx="446449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srgbClr val="192A52">
                    <a:lumMod val="40000"/>
                    <a:lumOff val="6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Preprocessing Steps</a:t>
            </a:r>
          </a:p>
          <a:p>
            <a:pPr marL="285750" marR="0" lvl="0" indent="-28575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Filled or dropped missing values</a:t>
            </a:r>
          </a:p>
          <a:p>
            <a:pPr marL="285750" marR="0" lvl="0" indent="-28575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Standardized salaries, locations, and formats</a:t>
            </a:r>
          </a:p>
          <a:p>
            <a:pPr marL="285750" marR="0" lvl="0" indent="-28575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Extracted features: skills, job roles, and city names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2E85BC-7619-6D02-3419-7F152DF4BFA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5940" y="3150198"/>
            <a:ext cx="2520280" cy="6937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67282CE-1909-B1DC-E849-C32EA7356AB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5971" y="1853839"/>
            <a:ext cx="1223963" cy="12239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B49BFCB-C245-6572-D61B-8275DBD4827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4812" y="3429000"/>
            <a:ext cx="2088231" cy="110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340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5C0AC6-6D03-FEF5-7F09-706DE777E8A5}"/>
              </a:ext>
            </a:extLst>
          </p:cNvPr>
          <p:cNvSpPr txBox="1"/>
          <p:nvPr/>
        </p:nvSpPr>
        <p:spPr>
          <a:xfrm>
            <a:off x="3430116" y="518619"/>
            <a:ext cx="58699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/>
              <a:t>ARIMA Model – Code Implementation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5D053C-E770-DD25-266D-E36A132F0215}"/>
              </a:ext>
            </a:extLst>
          </p:cNvPr>
          <p:cNvSpPr txBox="1"/>
          <p:nvPr/>
        </p:nvSpPr>
        <p:spPr>
          <a:xfrm>
            <a:off x="1125860" y="1484784"/>
            <a:ext cx="604867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ARIMA Model Implementation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1" dirty="0"/>
              <a:t>Data Grouping</a:t>
            </a:r>
            <a:endParaRPr lang="en-US" sz="1600" dirty="0"/>
          </a:p>
          <a:p>
            <a:pPr marL="895243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Group data by Field and Location</a:t>
            </a:r>
          </a:p>
          <a:p>
            <a:pPr marL="895243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Aggregate Jobs Posted and Average Salary per Date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1" dirty="0"/>
              <a:t>Preprocessing</a:t>
            </a:r>
            <a:endParaRPr lang="en-US" sz="1600" dirty="0"/>
          </a:p>
          <a:p>
            <a:pPr marL="895243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Split data into Training set (70%) and Testing set (30%)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1" dirty="0"/>
              <a:t>Model Building</a:t>
            </a:r>
            <a:endParaRPr lang="en-US" sz="1600" dirty="0"/>
          </a:p>
          <a:p>
            <a:pPr marL="895243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Fit ARIMA (5,1,0) model separately on:</a:t>
            </a:r>
          </a:p>
          <a:p>
            <a:pPr marL="1504737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-Jobs Posted</a:t>
            </a:r>
          </a:p>
          <a:p>
            <a:pPr marL="1504737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-Average Salary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1" dirty="0"/>
              <a:t>Forecasting</a:t>
            </a:r>
            <a:endParaRPr lang="en-US" sz="1600" dirty="0"/>
          </a:p>
          <a:p>
            <a:pPr marL="895243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Forecast next 30 days for Jobs and Salary</a:t>
            </a:r>
          </a:p>
          <a:p>
            <a:pPr marL="895243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Generate trend plots comparing train, actual, and forecasted data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1" dirty="0"/>
              <a:t>Evaluation</a:t>
            </a:r>
            <a:endParaRPr lang="en-US" sz="1600" dirty="0"/>
          </a:p>
          <a:p>
            <a:pPr lvl="1"/>
            <a:r>
              <a:rPr lang="en-US" sz="1400" dirty="0"/>
              <a:t>Calculate error metrics for test data:</a:t>
            </a:r>
          </a:p>
          <a:p>
            <a:pPr marL="1504737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MAPE (Mean Absolute Percentage Error)</a:t>
            </a:r>
          </a:p>
          <a:p>
            <a:pPr marL="1504737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SMAPE (Symmetric Mean Absolute Percentage Error)</a:t>
            </a:r>
          </a:p>
          <a:p>
            <a:pPr marL="1504737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MASE (Mean Absolute Scaled Error)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1" dirty="0"/>
              <a:t>Output</a:t>
            </a:r>
            <a:endParaRPr lang="en-US" sz="1600" dirty="0"/>
          </a:p>
          <a:p>
            <a:pPr marL="895243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Save 30-day forecast results to CSV file</a:t>
            </a:r>
          </a:p>
          <a:p>
            <a:pPr marL="895243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Display summary of metrics and plots for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221FEB-5DED-1DDB-FD09-D4DD959E51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4612" y="1556792"/>
            <a:ext cx="3456384" cy="452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850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15DE7-778C-D8B1-7C6E-73538E718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7B273E-49DA-9CCE-880F-460C952C1434}"/>
              </a:ext>
            </a:extLst>
          </p:cNvPr>
          <p:cNvSpPr txBox="1"/>
          <p:nvPr/>
        </p:nvSpPr>
        <p:spPr>
          <a:xfrm>
            <a:off x="3214092" y="527723"/>
            <a:ext cx="62222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PROPHET Model – Code Implementation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83805F-328B-552E-8EF5-1B9885A3A73D}"/>
              </a:ext>
            </a:extLst>
          </p:cNvPr>
          <p:cNvSpPr txBox="1"/>
          <p:nvPr/>
        </p:nvSpPr>
        <p:spPr>
          <a:xfrm>
            <a:off x="1125859" y="1628800"/>
            <a:ext cx="6099618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PROPHET Model Implementation </a:t>
            </a:r>
          </a:p>
          <a:p>
            <a:pPr marL="342900" marR="0" lvl="0" indent="-34290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 Preparation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895243" marR="0" lvl="1" indent="-28575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Convert dataset to prophet format</a:t>
            </a:r>
          </a:p>
          <a:p>
            <a:pPr marL="342900" marR="0" lvl="0" indent="-34290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600" b="1" dirty="0">
                <a:solidFill>
                  <a:prstClr val="white"/>
                </a:solidFill>
                <a:latin typeface="Calibri"/>
              </a:rPr>
              <a:t>Train-Test Split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895243" marR="0" lvl="1" indent="-28575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Split data into Training set (70%) and Testing set (30%)</a:t>
            </a:r>
          </a:p>
          <a:p>
            <a:pPr marL="342900" marR="0" lvl="0" indent="-34290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Model Training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895243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Initialize and fit Prophet model separately for Jobs and Salary data.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Forecasting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895243" marR="0" lvl="1" indent="-28575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Predict on test set dates.</a:t>
            </a:r>
          </a:p>
          <a:p>
            <a:pPr marL="895243" marR="0" lvl="1" indent="-28575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Forecast for next 30 days beyond dataset.</a:t>
            </a:r>
          </a:p>
          <a:p>
            <a:pPr marL="342900" marR="0" lvl="0" indent="-34290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Evaluation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609493" marR="0" lvl="1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Calculate error metrics for test data:</a:t>
            </a:r>
          </a:p>
          <a:p>
            <a:pPr marL="1504737" marR="0" lvl="2" indent="-28575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MAPE (Mean Absolute Percentage Error)</a:t>
            </a:r>
          </a:p>
          <a:p>
            <a:pPr marL="1504737" marR="0" lvl="2" indent="-28575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SMAPE (Symmetric Mean Absolute Percentage Error)</a:t>
            </a:r>
          </a:p>
          <a:p>
            <a:pPr marL="1504737" marR="0" lvl="2" indent="-28575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MASE (Mean Absolute Scaled Error)</a:t>
            </a:r>
          </a:p>
          <a:p>
            <a:pPr marL="342900" marR="0" lvl="0" indent="-34290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Output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895243" marR="0" lvl="1" indent="-28575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Save 30-day forecast results to CSV file</a:t>
            </a:r>
          </a:p>
          <a:p>
            <a:pPr marL="895243" marR="0" lvl="1" indent="-28575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Display summary of metrics and plots for analysis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DACD57-BCF3-A710-FDAE-36C48D9772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0516" y="2132856"/>
            <a:ext cx="4641936" cy="309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557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D909F-0B15-C4C5-DC8A-D67410C11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3D8D04-08B8-B6C4-D2A7-356E200CD3A7}"/>
              </a:ext>
            </a:extLst>
          </p:cNvPr>
          <p:cNvSpPr txBox="1"/>
          <p:nvPr/>
        </p:nvSpPr>
        <p:spPr>
          <a:xfrm>
            <a:off x="3278224" y="518890"/>
            <a:ext cx="56323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LSTM Model – Code Implementation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8A6FCD-C3DF-F941-A74A-451DA97FCF60}"/>
              </a:ext>
            </a:extLst>
          </p:cNvPr>
          <p:cNvSpPr txBox="1"/>
          <p:nvPr/>
        </p:nvSpPr>
        <p:spPr>
          <a:xfrm>
            <a:off x="1125859" y="1628800"/>
            <a:ext cx="6099618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LSTM Model Implementation </a:t>
            </a:r>
          </a:p>
          <a:p>
            <a:pPr marL="342900" marR="0" lvl="0" indent="-34290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 Preparation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895243" marR="0" lvl="1" indent="-28575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Convert time series data into supervised learning format (sliding window sequences)</a:t>
            </a:r>
          </a:p>
          <a:p>
            <a:pPr marL="1504737" lvl="2" indent="-285750">
              <a:buFont typeface="Arial" panose="020B0604020202020204" pitchFamily="34" charset="0"/>
              <a:buChar char="•"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Normalize features for better training stability</a:t>
            </a:r>
          </a:p>
          <a:p>
            <a:pPr marL="342900" marR="0" lvl="0" indent="-34290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600" b="1" dirty="0">
                <a:solidFill>
                  <a:prstClr val="white"/>
                </a:solidFill>
                <a:latin typeface="Calibri"/>
              </a:rPr>
              <a:t>Train-Test Split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895243" marR="0" lvl="1" indent="-28575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Split data into Training set (70%) and Testing set (30%)</a:t>
            </a:r>
          </a:p>
          <a:p>
            <a:pPr marL="342900" lvl="0" indent="-342900">
              <a:buFont typeface="+mj-lt"/>
              <a:buAutoNum type="arabicPeriod"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Model </a:t>
            </a:r>
            <a:r>
              <a:rPr lang="en-IN" sz="1600" b="1" dirty="0">
                <a:solidFill>
                  <a:prstClr val="white"/>
                </a:solidFill>
                <a:latin typeface="Calibri"/>
              </a:rPr>
              <a:t>Architecture</a:t>
            </a:r>
            <a:endParaRPr lang="en-US" sz="1600" b="1" dirty="0">
              <a:solidFill>
                <a:prstClr val="white"/>
              </a:solidFill>
              <a:latin typeface="Calibri"/>
            </a:endParaRPr>
          </a:p>
          <a:p>
            <a:pPr marL="895243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Built LSTM network with input, hidden, and output layers</a:t>
            </a:r>
          </a:p>
          <a:p>
            <a:pPr marL="895243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Used activation functions and dropout for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600" dirty="0">
                <a:solidFill>
                  <a:prstClr val="white"/>
                </a:solidFill>
                <a:latin typeface="Calibri"/>
              </a:rPr>
              <a:t>Model Training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895243" marR="0" lvl="1" indent="-28575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Train model on training sequences with multiple epochs.</a:t>
            </a:r>
          </a:p>
          <a:p>
            <a:pPr marL="895243" marR="0" lvl="1" indent="-28575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Use Mean Squared Error (MSE) as loss function.</a:t>
            </a:r>
          </a:p>
          <a:p>
            <a:pPr marL="342900" marR="0" lvl="0" indent="-34290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Evaluation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609493" marR="0" lvl="1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Calculate error metrics for test data:</a:t>
            </a:r>
          </a:p>
          <a:p>
            <a:pPr marL="1504737" marR="0" lvl="2" indent="-28575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MAPE (Mean Absolute Percentage Error)</a:t>
            </a:r>
          </a:p>
          <a:p>
            <a:pPr marL="1504737" marR="0" lvl="2" indent="-28575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SMAPE (Symmetric Mean Absolute Percentage Error)</a:t>
            </a:r>
          </a:p>
          <a:p>
            <a:pPr marL="1504737" marR="0" lvl="2" indent="-28575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MASE (Mean Absolute Scaled Error)</a:t>
            </a:r>
          </a:p>
          <a:p>
            <a:pPr marL="342900" marR="0" lvl="0" indent="-34290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Output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895243" marR="0" lvl="1" indent="-28575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Save 30-day forecast results to CSV file</a:t>
            </a:r>
          </a:p>
          <a:p>
            <a:pPr marL="895243" marR="0" lvl="1" indent="-28575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Display summary of metrics and plots for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67F1DA-B09B-8C69-40BC-23C49642BD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2524" y="1916832"/>
            <a:ext cx="4793476" cy="4160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964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CBF36-119F-DB64-F4A0-EB803D6F2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65B4C0-E0E7-EB03-EE52-378E9C4E8738}"/>
              </a:ext>
            </a:extLst>
          </p:cNvPr>
          <p:cNvSpPr txBox="1"/>
          <p:nvPr/>
        </p:nvSpPr>
        <p:spPr>
          <a:xfrm>
            <a:off x="3214092" y="548680"/>
            <a:ext cx="59641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MODEL EVALUATION METRICS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5BA26B-AA83-83E5-A456-A7DBA55A564C}"/>
              </a:ext>
            </a:extLst>
          </p:cNvPr>
          <p:cNvSpPr txBox="1"/>
          <p:nvPr/>
        </p:nvSpPr>
        <p:spPr>
          <a:xfrm>
            <a:off x="1125860" y="2132856"/>
            <a:ext cx="6099618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Metrics Used for All Forecast Models: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MAPE</a:t>
            </a:r>
            <a:r>
              <a:rPr lang="en-IN" sz="1800" dirty="0"/>
              <a:t> </a:t>
            </a:r>
            <a:r>
              <a:rPr lang="en-IN" sz="1800" i="1" dirty="0"/>
              <a:t>(Mean Absolute Percentage Error)</a:t>
            </a:r>
            <a:br>
              <a:rPr lang="en-IN" sz="1600" dirty="0"/>
            </a:br>
            <a:r>
              <a:rPr lang="en-IN" sz="1600" dirty="0"/>
              <a:t>    • Shows average prediction error in percentage terms</a:t>
            </a:r>
            <a:br>
              <a:rPr lang="en-IN" sz="1600" dirty="0"/>
            </a:br>
            <a:r>
              <a:rPr lang="en-IN" sz="1600" dirty="0"/>
              <a:t>    • Easy to interpret – </a:t>
            </a:r>
            <a:r>
              <a:rPr lang="en-IN" sz="1600" b="1" dirty="0"/>
              <a:t>lower is better</a:t>
            </a:r>
          </a:p>
          <a:p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SMAPE</a:t>
            </a:r>
            <a:r>
              <a:rPr lang="en-IN" sz="1800" dirty="0"/>
              <a:t> </a:t>
            </a:r>
            <a:r>
              <a:rPr lang="en-IN" sz="1800" i="1" dirty="0"/>
              <a:t>(Symmetric MAPE</a:t>
            </a:r>
            <a:r>
              <a:rPr lang="en-IN" sz="1600" i="1" dirty="0"/>
              <a:t>)</a:t>
            </a:r>
            <a:br>
              <a:rPr lang="en-IN" sz="1600" dirty="0"/>
            </a:br>
            <a:r>
              <a:rPr lang="en-IN" sz="1600" dirty="0"/>
              <a:t>    • Considers both overestimation &amp; underestimation</a:t>
            </a:r>
            <a:br>
              <a:rPr lang="en-IN" sz="1600" dirty="0"/>
            </a:br>
            <a:r>
              <a:rPr lang="en-IN" sz="1600" dirty="0"/>
              <a:t>    • Balanced and scale-independent</a:t>
            </a:r>
          </a:p>
          <a:p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MASE</a:t>
            </a:r>
            <a:r>
              <a:rPr lang="en-IN" sz="1800" dirty="0"/>
              <a:t> </a:t>
            </a:r>
            <a:r>
              <a:rPr lang="en-IN" sz="1800" i="1" dirty="0"/>
              <a:t>(Mean Absolute Scaled Error)</a:t>
            </a:r>
            <a:br>
              <a:rPr lang="en-IN" sz="1600" dirty="0"/>
            </a:br>
            <a:r>
              <a:rPr lang="en-IN" sz="1600" dirty="0"/>
              <a:t>    • Compares forecast error with a naive baseline model</a:t>
            </a:r>
            <a:br>
              <a:rPr lang="en-IN" sz="1600" dirty="0"/>
            </a:br>
            <a:r>
              <a:rPr lang="en-IN" sz="1600" dirty="0"/>
              <a:t>    • Helpful when datasets vary in scale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9902862-F643-3BCA-87CD-4FBA9B56CA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5896" y="1755540"/>
            <a:ext cx="3941123" cy="12096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EE7EE58-B9B5-3E6B-C78E-227F018812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7014" y="3456529"/>
            <a:ext cx="3971925" cy="1152525"/>
          </a:xfrm>
          <a:prstGeom prst="rect">
            <a:avLst/>
          </a:prstGeom>
        </p:spPr>
      </p:pic>
      <p:pic>
        <p:nvPicPr>
          <p:cNvPr id="1026" name="Picture 2" descr="MASE (Mean Absolute Scaled Error)">
            <a:extLst>
              <a:ext uri="{FF2B5EF4-FFF2-40B4-BE49-F238E27FC236}">
                <a16:creationId xmlns:a16="http://schemas.microsoft.com/office/drawing/2014/main" id="{AC3EDF6F-3E17-29BF-A4DB-4EA12AD4E9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2509" y="5013176"/>
            <a:ext cx="4046519" cy="1625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700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EEAEC-5CC7-1BDB-C90F-6A68B35E4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F8D3203-CF3B-83DA-0642-328941CF80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263057"/>
              </p:ext>
            </p:extLst>
          </p:nvPr>
        </p:nvGraphicFramePr>
        <p:xfrm>
          <a:off x="837829" y="1269587"/>
          <a:ext cx="5400599" cy="22322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71139">
                  <a:extLst>
                    <a:ext uri="{9D8B030D-6E8A-4147-A177-3AD203B41FA5}">
                      <a16:colId xmlns:a16="http://schemas.microsoft.com/office/drawing/2014/main" val="229272731"/>
                    </a:ext>
                  </a:extLst>
                </a:gridCol>
                <a:gridCol w="1371139">
                  <a:extLst>
                    <a:ext uri="{9D8B030D-6E8A-4147-A177-3AD203B41FA5}">
                      <a16:colId xmlns:a16="http://schemas.microsoft.com/office/drawing/2014/main" val="1695810314"/>
                    </a:ext>
                  </a:extLst>
                </a:gridCol>
                <a:gridCol w="1371139">
                  <a:extLst>
                    <a:ext uri="{9D8B030D-6E8A-4147-A177-3AD203B41FA5}">
                      <a16:colId xmlns:a16="http://schemas.microsoft.com/office/drawing/2014/main" val="1486208799"/>
                    </a:ext>
                  </a:extLst>
                </a:gridCol>
                <a:gridCol w="1287182">
                  <a:extLst>
                    <a:ext uri="{9D8B030D-6E8A-4147-A177-3AD203B41FA5}">
                      <a16:colId xmlns:a16="http://schemas.microsoft.com/office/drawing/2014/main" val="4254439014"/>
                    </a:ext>
                  </a:extLst>
                </a:gridCol>
              </a:tblGrid>
              <a:tr h="55806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Model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Avg. MAPE (%)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Avg. SMAPE (%)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Avg. MASE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2837457801"/>
                  </a:ext>
                </a:extLst>
              </a:tr>
              <a:tr h="55806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ARIMA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36.82%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30.81%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0.793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82477270"/>
                  </a:ext>
                </a:extLst>
              </a:tr>
              <a:tr h="55806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Prophet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35.25%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29.00%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0.745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3182280852"/>
                  </a:ext>
                </a:extLst>
              </a:tr>
              <a:tr h="55806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LSTM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64.64%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33.6%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0.75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386724703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5134CBD-C594-7806-A90C-4E6D3CFC3143}"/>
              </a:ext>
            </a:extLst>
          </p:cNvPr>
          <p:cNvSpPr txBox="1"/>
          <p:nvPr/>
        </p:nvSpPr>
        <p:spPr>
          <a:xfrm>
            <a:off x="909836" y="863134"/>
            <a:ext cx="34735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Model Comparison for Job Posting Prediction</a:t>
            </a:r>
            <a:endParaRPr lang="en-IN" sz="1400" dirty="0"/>
          </a:p>
          <a:p>
            <a:endParaRPr lang="en-IN" sz="14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E664042-3790-C03B-F095-5CEB19AE8C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0954977"/>
              </p:ext>
            </p:extLst>
          </p:nvPr>
        </p:nvGraphicFramePr>
        <p:xfrm>
          <a:off x="6886500" y="1269587"/>
          <a:ext cx="5184576" cy="22322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3904699313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3170050522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53375950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4208020684"/>
                    </a:ext>
                  </a:extLst>
                </a:gridCol>
              </a:tblGrid>
              <a:tr h="55806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Model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Avg. MAPE (%)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Avg. SMAPE (%)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Avg. MASE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3065240258"/>
                  </a:ext>
                </a:extLst>
              </a:tr>
              <a:tr h="55806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ARIMA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9.96%%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9.54%%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0.784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2103060578"/>
                  </a:ext>
                </a:extLst>
              </a:tr>
              <a:tr h="55806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Prophet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9.31%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8.86%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0.725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2982610444"/>
                  </a:ext>
                </a:extLst>
              </a:tr>
              <a:tr h="55806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LSTM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17.83%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12.24%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0.72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346364052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CE9528A-D9A1-5863-707F-40DE94486746}"/>
              </a:ext>
            </a:extLst>
          </p:cNvPr>
          <p:cNvSpPr txBox="1"/>
          <p:nvPr/>
        </p:nvSpPr>
        <p:spPr>
          <a:xfrm>
            <a:off x="8110636" y="961811"/>
            <a:ext cx="3504934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Model Comparison for Salary Prediction</a:t>
            </a:r>
            <a:endParaRPr lang="en-IN" sz="1600" dirty="0"/>
          </a:p>
          <a:p>
            <a:endParaRPr lang="en-IN"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182B1F-E395-FDC0-2DF8-6D814FF7D674}"/>
              </a:ext>
            </a:extLst>
          </p:cNvPr>
          <p:cNvSpPr txBox="1"/>
          <p:nvPr/>
        </p:nvSpPr>
        <p:spPr>
          <a:xfrm>
            <a:off x="3078494" y="309136"/>
            <a:ext cx="58660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COMPARATIVE RESULTS AND VISUALIZATION</a:t>
            </a:r>
            <a:endParaRPr lang="en-IN" sz="28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608228-E03B-555E-BE79-BDF086D318E6}"/>
              </a:ext>
            </a:extLst>
          </p:cNvPr>
          <p:cNvSpPr txBox="1"/>
          <p:nvPr/>
        </p:nvSpPr>
        <p:spPr>
          <a:xfrm>
            <a:off x="1053852" y="4869160"/>
            <a:ext cx="105617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observing the above tables;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Prophet emerges as the best model with least error.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1583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365B81-57C6-CD8E-CDAD-66362E1DE6B5}"/>
              </a:ext>
            </a:extLst>
          </p:cNvPr>
          <p:cNvSpPr txBox="1"/>
          <p:nvPr/>
        </p:nvSpPr>
        <p:spPr>
          <a:xfrm>
            <a:off x="4103354" y="385500"/>
            <a:ext cx="39821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POWER-BI VISUALIZATION</a:t>
            </a:r>
            <a:endParaRPr lang="en-IN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579EF4-23AA-DFE2-A471-C5E1775A25A3}"/>
              </a:ext>
            </a:extLst>
          </p:cNvPr>
          <p:cNvSpPr txBox="1"/>
          <p:nvPr/>
        </p:nvSpPr>
        <p:spPr>
          <a:xfrm>
            <a:off x="1197868" y="1340768"/>
            <a:ext cx="6480720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Key Visualizations Created in Power BI</a:t>
            </a:r>
          </a:p>
          <a:p>
            <a:r>
              <a:rPr lang="en-US" sz="2000" dirty="0"/>
              <a:t>📌 </a:t>
            </a:r>
            <a:r>
              <a:rPr lang="en-US" sz="2000" b="1" dirty="0"/>
              <a:t>Job Postings Overview</a:t>
            </a:r>
            <a:endParaRPr lang="en-US" sz="2000" dirty="0"/>
          </a:p>
          <a:p>
            <a:pPr lvl="1"/>
            <a:r>
              <a:rPr lang="en-US" sz="2000" dirty="0"/>
              <a:t>Total jobs by Field and Location shown in bar graphs</a:t>
            </a:r>
          </a:p>
          <a:p>
            <a:pPr lvl="1"/>
            <a:endParaRPr lang="en-US" sz="2000" dirty="0"/>
          </a:p>
          <a:p>
            <a:r>
              <a:rPr lang="en-US" sz="2000" dirty="0"/>
              <a:t>📈 </a:t>
            </a:r>
            <a:r>
              <a:rPr lang="en-US" sz="2000" b="1" dirty="0"/>
              <a:t>Salary Analysis Dashboard</a:t>
            </a:r>
            <a:endParaRPr lang="en-US" sz="2000" dirty="0"/>
          </a:p>
          <a:p>
            <a:pPr lvl="1"/>
            <a:r>
              <a:rPr lang="en-US" sz="2000" dirty="0"/>
              <a:t>Bar graphs for showing average salary  of different  fields and locations.</a:t>
            </a:r>
          </a:p>
          <a:p>
            <a:pPr lvl="1"/>
            <a:endParaRPr lang="en-US" sz="2000" dirty="0"/>
          </a:p>
          <a:p>
            <a:r>
              <a:rPr lang="en-US" sz="2000" dirty="0"/>
              <a:t>🔮 </a:t>
            </a:r>
            <a:r>
              <a:rPr lang="en-US" sz="2000" b="1" dirty="0"/>
              <a:t>Forecast Comparison Panel</a:t>
            </a:r>
            <a:endParaRPr lang="en-US" sz="2000" dirty="0"/>
          </a:p>
          <a:p>
            <a:pPr lvl="1"/>
            <a:r>
              <a:rPr lang="en-US" sz="2000" dirty="0"/>
              <a:t>30-day salary &amp; job predictions visualized from Prophet model.</a:t>
            </a:r>
          </a:p>
          <a:p>
            <a:pPr lvl="1"/>
            <a:endParaRPr lang="en-US" sz="2000" dirty="0"/>
          </a:p>
          <a:p>
            <a:r>
              <a:rPr lang="en-US" sz="2000" dirty="0"/>
              <a:t>🌍 </a:t>
            </a:r>
            <a:r>
              <a:rPr lang="en-US" sz="2000" b="1" dirty="0"/>
              <a:t>Using Slicer</a:t>
            </a:r>
          </a:p>
          <a:p>
            <a:r>
              <a:rPr lang="en-US" sz="2000" b="1" dirty="0"/>
              <a:t>          </a:t>
            </a:r>
            <a:r>
              <a:rPr lang="en-US" sz="2000" dirty="0"/>
              <a:t>Using slicer for selection of different fields and    	locations.</a:t>
            </a:r>
            <a:r>
              <a:rPr lang="en-US" sz="2000" b="1" dirty="0"/>
              <a:t> </a:t>
            </a:r>
            <a:endParaRPr lang="en-US" sz="2800" dirty="0"/>
          </a:p>
          <a:p>
            <a:pPr algn="just"/>
            <a:endParaRPr lang="en-US" sz="2000" dirty="0"/>
          </a:p>
          <a:p>
            <a:endParaRPr lang="en-US" sz="2000" dirty="0"/>
          </a:p>
          <a:p>
            <a:endParaRPr lang="en-IN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84C1F5-D32B-6DB9-B523-73579AF503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6500" y="444920"/>
            <a:ext cx="5544616" cy="28257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EA4F9A4-C029-0A7F-CE74-4A3B897CFB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0516" y="3433121"/>
            <a:ext cx="5086301" cy="2825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4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8420F-11F3-ED59-50F5-DD03BD9E6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674FFC30-94A9-ADDA-8F8D-D3A3760F3B94}"/>
              </a:ext>
            </a:extLst>
          </p:cNvPr>
          <p:cNvSpPr txBox="1"/>
          <p:nvPr/>
        </p:nvSpPr>
        <p:spPr>
          <a:xfrm>
            <a:off x="4366220" y="352102"/>
            <a:ext cx="62646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FUTURE SCOPE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BB1E0D-17A7-FFF2-65FF-9918460B2D4A}"/>
              </a:ext>
            </a:extLst>
          </p:cNvPr>
          <p:cNvSpPr txBox="1"/>
          <p:nvPr/>
        </p:nvSpPr>
        <p:spPr>
          <a:xfrm>
            <a:off x="1125860" y="1052736"/>
            <a:ext cx="6696744" cy="55461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Expand Data Sources</a:t>
            </a:r>
            <a:r>
              <a:rPr lang="en-US" sz="2000" dirty="0"/>
              <a:t>: Scrape additional platforms like LinkedIn, Indeed, and Glassdoor for broader job market insights.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Enhance Models: </a:t>
            </a:r>
            <a:r>
              <a:rPr lang="en-US" sz="2000" dirty="0"/>
              <a:t>Implement hybrid models (e.g., ARIMA-LSTM) or AutoML for improved prediction accuracy.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Real-Time Predictions: </a:t>
            </a:r>
            <a:r>
              <a:rPr lang="en-US" sz="2000" dirty="0"/>
              <a:t>Develop a web/mobile app for live job and salary forecasts.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Advanced Visualizations: </a:t>
            </a:r>
            <a:r>
              <a:rPr lang="en-US" sz="2000" dirty="0"/>
              <a:t>Integrate interactive dashboards with geospatial analysis for regional trends.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2B25B1-A3B8-DD34-0CE4-104ECBCC1B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6620" y="1484784"/>
            <a:ext cx="3816424" cy="444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150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409</TotalTime>
  <Words>1158</Words>
  <Application>Microsoft Office PowerPoint</Application>
  <PresentationFormat>Custom</PresentationFormat>
  <Paragraphs>212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Tech 16x9</vt:lpstr>
      <vt:lpstr>IT JOBS AND SALARIES TRENDS PREDICTION AND ANALYSIS</vt:lpstr>
      <vt:lpstr>TABLE OF CONTENTS</vt:lpstr>
      <vt:lpstr>INTRODUCTION </vt:lpstr>
      <vt:lpstr>PROBLEM STATEMENT &amp; OBJECTIVES</vt:lpstr>
      <vt:lpstr>PowerPoint Presentation</vt:lpstr>
      <vt:lpstr>PowerPoint Presentation</vt:lpstr>
      <vt:lpstr>TOOLS &amp; TECHNOLOGIES USED</vt:lpstr>
      <vt:lpstr>DATA COLLECTION AND PREPROCESSING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Bhupal Singh</dc:creator>
  <cp:lastModifiedBy>SANCHIT MANWAL</cp:lastModifiedBy>
  <cp:revision>15</cp:revision>
  <dcterms:created xsi:type="dcterms:W3CDTF">2025-06-04T12:17:50Z</dcterms:created>
  <dcterms:modified xsi:type="dcterms:W3CDTF">2025-06-05T04:45:16Z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